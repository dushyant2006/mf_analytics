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D4AA"/>
                </a:solidFill>
              </a:rPr>
              <a:t>🏦 Bluestock Fintech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Mutual Fund Analytics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651760"/>
            <a:ext cx="11274552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CCCCC"/>
                </a:solidFill>
              </a:rPr>
              <a:t>Capstone Project  |  Individual Submission  |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D4AA"/>
                </a:solidFill>
              </a:rPr>
              <a:t>Dushyant Sharma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CCC"/>
                </a:solidFill>
              </a:rPr>
              <a:t>Python · SQLite · Power BI · mfapi.in · AMFI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AA"/>
                </a:solidFill>
              </a:rPr>
              <a:t>Problem &amp; Objective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❓  India's MF industry manages ₹67+ lakh crore AUM — yet retail investors lack easy analytical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📊  Objective: Build a full-stack analytics platform from raw AMFI data to interactive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🎯  Cover ETL → Cleaning → SQL DB → EDA → Risk Metrics → Power BI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👥  Target: Retail investors, financial advisors, and fintech analysts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46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✅  All data from public sources: AMFI India + mfapi.in REST API — no API keys required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AA"/>
                </a:solidFill>
              </a:rPr>
              <a:t>Data Sources &amp; Scale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</a:rPr>
              <a:t>📁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0972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</a:rPr>
              <a:t>Rows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972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</a:rPr>
              <a:t>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55648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01_fund_master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755648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755648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40 AMFI schemes — codes, AMC, risk grade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14015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02_nav_history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414015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46,000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414015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Daily NAV Jan 2022–May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72384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03_aum_by_fund_house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072384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072384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Quarterly AUM for top 10 AMCs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730752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04_monthly_sip_inflows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730752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48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730752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SIP inflows — ₹31,002 Cr milestone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3891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08_investor_transactions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3891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32,778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3891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SIP/Lumpsum/Redemption across 12 states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047488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10_benchmark_indices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5047488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8,050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5047488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Nifty 50, Nifty 100, BSE SmallCap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AA"/>
                </a:solidFill>
              </a:rPr>
              <a:t>Data Pipeline &amp;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AA"/>
                </a:solidFill>
              </a:rPr>
              <a:t>1️⃣  EXTRACT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11887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mfapi.in REST API + 10 AMFI CSVs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AA"/>
                </a:solidFill>
              </a:rPr>
              <a:t>2️⃣  TRANSFORM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1031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Pandas cleaning · forward-fill NAV · validate types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AA"/>
                </a:solidFill>
              </a:rPr>
              <a:t>3️⃣  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30175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SQLite star schema · 11 tables · 5.5 MB 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AA"/>
                </a:solidFill>
              </a:rPr>
              <a:t>4️⃣  ANALYSE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9319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Sharpe · Sortino · Alpha · Beta · VaR · HHI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463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AA"/>
                </a:solidFill>
              </a:rPr>
              <a:t>5️⃣  VISUALISE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48463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Power BI 4-page dashboard · dark fintech theme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AA"/>
                </a:solidFill>
              </a:rPr>
              <a:t>EDA Highlights — Market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_sip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486400" cy="2926080"/>
          </a:xfrm>
          <a:prstGeom prst="rect">
            <a:avLst/>
          </a:prstGeom>
        </p:spPr>
      </p:pic>
      <p:pic>
        <p:nvPicPr>
          <p:cNvPr id="5" name="Picture 4" descr="07_folio_grow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097280"/>
            <a:ext cx="548640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41148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SIP inflows hit ₹31,002 Cr all-time high (Dec 2025)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41148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Folios doubled: 13.26 Cr → 26.12 Cr in 4 years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AA"/>
                </a:solidFill>
              </a:rPr>
              <a:t>EDA Highlights — Fund &amp; Investor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9_sector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486400" cy="3200400"/>
          </a:xfrm>
          <a:prstGeom prst="rect">
            <a:avLst/>
          </a:prstGeom>
        </p:spPr>
      </p:pic>
      <p:pic>
        <p:nvPicPr>
          <p:cNvPr id="5" name="Picture 4" descr="05_demograph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097280"/>
            <a:ext cx="548640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43891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Banking dominates sector allocation (₹62,840 Cr)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43891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26–35 age group drives highest SIP volumes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AA"/>
                </a:solidFill>
              </a:rPr>
              <a:t>Performance Metrics — Risk &amp; Return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2_sharpe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486400" cy="3200400"/>
          </a:xfrm>
          <a:prstGeom prst="rect">
            <a:avLst/>
          </a:prstGeom>
        </p:spPr>
      </p:pic>
      <p:pic>
        <p:nvPicPr>
          <p:cNvPr id="5" name="Picture 4" descr="13_max_draw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097280"/>
            <a:ext cx="548640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43891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Top funds maintain Sharpe &gt; 1.0 consistently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43891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Small cap funds show worst max drawdown (−24%+)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AA"/>
                </a:solidFill>
              </a:rPr>
              <a:t>Performance Metrics — Scorecard &amp; Benchmark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4_fund_score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486400" cy="3200400"/>
          </a:xfrm>
          <a:prstGeom prst="rect">
            <a:avLst/>
          </a:prstGeom>
        </p:spPr>
      </p:pic>
      <p:pic>
        <p:nvPicPr>
          <p:cNvPr id="5" name="Picture 4" descr="15_benchmark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097280"/>
            <a:ext cx="548640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43891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Composite scorecard ranks all 40 funds (0–100)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43891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Top funds outperform Nifty 50 on normalised basis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D4AA"/>
                </a:solidFill>
              </a:rPr>
              <a:t>Power BI Dashboard — Industry Overview &amp; Fund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ge1_industry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486400" cy="4114800"/>
          </a:xfrm>
          <a:prstGeom prst="rect">
            <a:avLst/>
          </a:prstGeom>
        </p:spPr>
      </p:pic>
      <p:pic>
        <p:nvPicPr>
          <p:cNvPr id="5" name="Picture 4" descr="page1_industry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09728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D4AA"/>
                </a:solidFill>
              </a:rPr>
              <a:t>Power BI Dashboard — Investor Analytics &amp; SIP Trends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ge3_investor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486400" cy="4114800"/>
          </a:xfrm>
          <a:prstGeom prst="rect">
            <a:avLst/>
          </a:prstGeom>
        </p:spPr>
      </p:pic>
      <p:pic>
        <p:nvPicPr>
          <p:cNvPr id="5" name="Picture 4" descr="page4_sip_tre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09728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AA"/>
                </a:solidFill>
              </a:rPr>
              <a:t>Key Findings &amp;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🏆  SBI MF leads industry AUM at ₹12.5L Cr — 106% growth since 2022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📈  SIP inflows hit ₹31,002 Cr all-time high in Dec 2025 — retail boom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📊  Folios doubled to 26.12 Cr — massive financial inclusion success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⚠️   Small cap VaR exceeds −2.5%/day — suitable only for 5Y+ horizon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805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🎯  Top 3 recommended funds (Moderate risk): HDFC Top 100, Mirae Large Cap, ICICI Bluechip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3035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🔍  75%+ investors maintain SIP continuity — strong discipline observed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0D4AA"/>
                </a:solidFill>
              </a:rP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926080"/>
            <a:ext cx="11274552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108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</a:rPr>
              <a:t>Dushyant Sharma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749039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CCCCC"/>
                </a:solidFill>
              </a:rPr>
              <a:t>Bluestock Fintech Internship Capstone  |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D4AA"/>
                </a:solidFill>
              </a:rPr>
              <a:t>github.com/dushyant2006/mf_analytics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